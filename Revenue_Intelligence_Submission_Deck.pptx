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PROBLEM &amp; FINDINGS  |  Slide 1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Manager Problem Chosen &amp; Key Analytical Findings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Triage unstructured calls and meetings into actionable executive intelligence without hallucinations.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Core Manager Challenge Solved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Fragmented Data: </a:t>
            </a:r>
            <a:r>
              <a:rPr b="0">
                <a:solidFill>
                  <a:srgbClr val="475569"/>
                </a:solidFill>
              </a:rPr>
              <a:t>Calls and meetings arrive without clean routing, some with missing or late transcripts, creating blindspots.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Actionability Gap: </a:t>
            </a:r>
            <a:r>
              <a:rPr b="0">
                <a:solidFill>
                  <a:srgbClr val="475569"/>
                </a:solidFill>
              </a:rPr>
              <a:t>Managers lack an operational workspace to spot customer retention risks and commercial commitments.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3 Critical Source-Backed Findings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1. M07 Customer Escalation (T3-T25): </a:t>
            </a:r>
            <a:r>
              <a:rPr b="0">
                <a:solidFill>
                  <a:srgbClr val="475569"/>
                </a:solidFill>
              </a:rPr>
              <a:t>Willowfield reported 4 UI bugs (description not saving, upload failing, processing freeze, amount retention). Routed to Support/Engineering, not Sales.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2. M03/M04 Product Expectation Gap (M03:T6, M04:T11): </a:t>
            </a:r>
            <a:r>
              <a:rPr b="0">
                <a:solidFill>
                  <a:srgbClr val="475569"/>
                </a:solidFill>
              </a:rPr>
              <a:t>Prospects demand corporate credit lines, whereas SpendNest only provides prepaid cards. High blocker to adoption.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3. M02 Strategic Vendor Misclassification (T1-T31): </a:t>
            </a:r>
            <a:r>
              <a:rPr b="0">
                <a:solidFill>
                  <a:srgbClr val="475569"/>
                </a:solidFill>
              </a:rPr>
              <a:t>LedgerBridge is a compliant e-invoicing supplier pitch to SpendNest, not a pipeline prospect. Kept separate from deals.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KEY TAKEAWAY: </a:t>
            </a:r>
            <a:r>
              <a:rPr b="0" sz="1050">
                <a:solidFill>
                  <a:srgbClr val="FFFFFF"/>
                </a:solidFill>
              </a:rPr>
              <a:t>Automated classification from upstream metadata is unreliable; verified transcript evidence must govern managerial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UI ARCHITECTURE  |  Slide 2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Interface Decisions &amp; Deliberately Excluded Features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Designed for fast operational triaging, evidence inspection, and zero fake data creation.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Key Interface Inclusions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Dual-Pane Layout: </a:t>
            </a:r>
            <a:r>
              <a:rPr b="0">
                <a:solidFill>
                  <a:srgbClr val="475569"/>
                </a:solidFill>
              </a:rPr>
              <a:t>Left pane displays filterable records with state indicators; right pane provides complete transcript and evidence-backed synthesis.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Replay Controller: </a:t>
            </a:r>
            <a:r>
              <a:rPr b="0">
                <a:solidFill>
                  <a:srgbClr val="475569"/>
                </a:solidFill>
              </a:rPr>
              <a:t>Direct action buttons for Initial Import, Duplicate Check, Batch 02 Update, and Clean Reset to reproduce tests.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Manager Daily Brief: </a:t>
            </a:r>
            <a:r>
              <a:rPr b="0">
                <a:solidFill>
                  <a:srgbClr val="475569"/>
                </a:solidFill>
              </a:rPr>
              <a:t>Dedicated summary view for 21 August 2026 highlighting urgent client issues and commercial promises.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Deliberate Omissions &amp; Rejected Features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Date Filter Omitted: </a:t>
            </a:r>
            <a:r>
              <a:rPr b="0">
                <a:solidFill>
                  <a:srgbClr val="475569"/>
                </a:solidFill>
              </a:rPr>
              <a:t>All 44 records occur on 21 August 2026 (Asia/Kolkata). Adding a date range picker is redundant and misleading.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No Inferred Deal Pipeline ($): </a:t>
            </a:r>
            <a:r>
              <a:rPr b="0">
                <a:solidFill>
                  <a:srgbClr val="475569"/>
                </a:solidFill>
              </a:rPr>
              <a:t>Rejected calculating CRM deal totals or currency forecasts as source records provide no authoritative deal sizes.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No Staff Performance Ranking: </a:t>
            </a:r>
            <a:r>
              <a:rPr b="0">
                <a:solidFill>
                  <a:srgbClr val="475569"/>
                </a:solidFill>
              </a:rPr>
              <a:t>Sample dataset is selected for variety, not a representative whole-team snapshot. Avoided biased rep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DESIGN PRINCIPLE: </a:t>
            </a:r>
            <a:r>
              <a:rPr b="0" sz="1050">
                <a:solidFill>
                  <a:srgbClr val="FFFFFF"/>
                </a:solidFill>
              </a:rPr>
              <a:t>High clarity and transparent evidence inspection prioritized over vanity charts and ungrounded predictive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TAXONOMY &amp; EDGE CASES  |  Slide 3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Routing Design &amp; Complex Edge-Case Resolution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Custom multi-destination taxonomy with override persistence across batch replays.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Operational Routing Taxonomy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Deal Next Steps: </a:t>
            </a:r>
            <a:r>
              <a:rPr b="0">
                <a:solidFill>
                  <a:srgbClr val="475569"/>
                </a:solidFill>
              </a:rPr>
              <a:t>Commercial discussions with identified buyers requiring quotes or proposals (e.g., M03 Asterloom, C07 Willowbank).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Customer Support / Bugs: </a:t>
            </a:r>
            <a:r>
              <a:rPr b="0">
                <a:solidFill>
                  <a:srgbClr val="475569"/>
                </a:solidFill>
              </a:rPr>
              <a:t>Post-sale technical issues and blockers requiring engineering fixes (e.g., M07 Willowfield, M09 Brookmint).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Sales Coaching: </a:t>
            </a:r>
            <a:r>
              <a:rPr b="0">
                <a:solidFill>
                  <a:srgbClr val="475569"/>
                </a:solidFill>
              </a:rPr>
              <a:t>Calls with pitch missteps, cold-call pushback, or pricing confusion needing rep guidance (e.g., C01, C05, C06).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Internal &amp; Vendor Strategy: </a:t>
            </a:r>
            <a:r>
              <a:rPr b="0">
                <a:solidFill>
                  <a:srgbClr val="475569"/>
                </a:solidFill>
              </a:rPr>
              <a:t>Vendor integration or billing sessions (M02 LedgerBridge, M10 internal billing).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Unprocessed / Low Signal: </a:t>
            </a:r>
            <a:r>
              <a:rPr b="0">
                <a:solidFill>
                  <a:srgbClr val="475569"/>
                </a:solidFill>
              </a:rPr>
              <a:t>Records without audio/text (26 records) or gatekeeper drops (C02); zero invented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Difficult Case: Cedarwave Distribution (M04)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Conflict: </a:t>
            </a:r>
            <a:r>
              <a:rPr b="0">
                <a:solidFill>
                  <a:srgbClr val="475569"/>
                </a:solidFill>
              </a:rPr>
              <a:t>Starts as prepaid migration (Support), reveals corporate credit blocker (Product), and requests accounting sync (Deal Expansion).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Routing Decision: </a:t>
            </a:r>
            <a:r>
              <a:rPr b="0">
                <a:solidFill>
                  <a:srgbClr val="475569"/>
                </a:solidFill>
              </a:rPr>
              <a:t>Assigned dual-routing: 'Customer Retention &amp; Support' + 'Product Gap Alert'.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Override Handling: </a:t>
            </a:r>
            <a:r>
              <a:rPr b="0">
                <a:solidFill>
                  <a:srgbClr val="475569"/>
                </a:solidFill>
              </a:rPr>
              <a:t>Manager manual override survives subsequent batch updates without resetting.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INTEGRITY RULE: </a:t>
            </a:r>
            <a:r>
              <a:rPr b="0" sz="1050">
                <a:solidFill>
                  <a:srgbClr val="FFFFFF"/>
                </a:solidFill>
              </a:rPr>
              <a:t>State separation: Candidate analysis and user overrides remain strictly isolated from raw source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DATA INTEGRITY  |  Slide 4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Verification of Key Metrics &amp; Analytical Conclusions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Exact mathematical audit and traceable transcript citations for all conclusions.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2591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4782312"/>
                <a:gridCol w="1828800"/>
              </a:tblGrid>
              <a:tr h="53557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/ Claim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Observed Source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Method &amp; Formula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Audit Citation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Total Unique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44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Count distinct (source_type, source_id); duplicates skipped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DATA_CONTRACT.md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Usable Coverage (Initial)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17 / 44 (38.6%)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Non-blank call transcript (10) + meeting turns &gt; 0 (7)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01_initial.json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Usable Coverage (Updated)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18 / 44 (40.9%)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M07 Rev 2 added 19 turns; total usable texts becomes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02_update.json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Reported Connect 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11 / 30 (36.7%)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Calls with is_connected=true (11) / non-null is_connected (30)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DATA_DICTIONARY.md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M07 Re-creation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File Upload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Turn 8-12: 'When I go through this route, I cannot upload'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M07 Turn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C01 Cold Call Friction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Unsolicited Pushback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'This number is for my work, not for people to sell things'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C01 Audio 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VERIFICATION RIGOR: </a:t>
            </a:r>
            <a:r>
              <a:rPr b="0" sz="1050">
                <a:solidFill>
                  <a:srgbClr val="FFFFFF"/>
                </a:solidFill>
              </a:rPr>
              <a:t>Never conflate source-reported connection flags with verified transcript participation. Every claim is cited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EVALUATION &amp; ROADMAP  |  Slide 5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Trade-offs, AI Usage, Limitations &amp; Next Steps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Transparent technical evaluation, disciplined AI prompting, and future engineering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Engineering Trade-offs &amp; AI Implementation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Single-Page Architecture: </a:t>
            </a:r>
            <a:r>
              <a:rPr b="0">
                <a:solidFill>
                  <a:srgbClr val="475569"/>
                </a:solidFill>
              </a:rPr>
              <a:t>Implemented zero-dependency client-side architecture with localStorage persistence for instant, reliable evaluation.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Pre-Generated Analysis: </a:t>
            </a:r>
            <a:r>
              <a:rPr b="0">
                <a:solidFill>
                  <a:srgbClr val="475569"/>
                </a:solidFill>
              </a:rPr>
              <a:t>Used structured pre-generated analysis to prevent runtime LLM latency, cost, and hallucination during reviewer testing.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Deterministic Rules: </a:t>
            </a:r>
            <a:r>
              <a:rPr b="0">
                <a:solidFill>
                  <a:srgbClr val="475569"/>
                </a:solidFill>
              </a:rPr>
              <a:t>Batch revisions and duplicate rejection enforced strictly by deterministic equality checks, not probabilistic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Known Limitations &amp; Future Improvements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Unlinked Accounts: </a:t>
            </a:r>
            <a:r>
              <a:rPr b="0">
                <a:solidFill>
                  <a:srgbClr val="475569"/>
                </a:solidFill>
              </a:rPr>
              <a:t>Similar entity names (e.g., M04 and M13 Cedarwave) are not merged without verified CRM organization IDs.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Runtime LLM Pipeline: </a:t>
            </a:r>
            <a:r>
              <a:rPr b="0">
                <a:solidFill>
                  <a:srgbClr val="475569"/>
                </a:solidFill>
              </a:rPr>
              <a:t>Future roadmap includes streaming background AI workers for automatic revision diff analysis upon batch arrival.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CRM Sync: </a:t>
            </a:r>
            <a:r>
              <a:rPr b="0">
                <a:solidFill>
                  <a:srgbClr val="475569"/>
                </a:solidFill>
              </a:rPr>
              <a:t>Production release would incorporate bi-directional webhooks to update Salesforce/HubSpot deal stages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SUMMARY: </a:t>
            </a:r>
            <a:r>
              <a:rPr b="0" sz="1050">
                <a:solidFill>
                  <a:srgbClr val="FFFFFF"/>
                </a:solidFill>
              </a:rPr>
              <a:t>Built within the 6-8 hour scope with complete adherence to replay contracts, evidence verification, and export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